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B365D"/>
                </a:solidFill>
                <a:latin typeface="Arial"/>
              </a:rPr>
              <a:t>Problem Statement ID – </a:t>
            </a:r>
            <a:r>
              <a:rPr sz="1500" b="0">
                <a:solidFill>
                  <a:srgbClr val="333333"/>
                </a:solidFill>
                <a:latin typeface="Arial"/>
              </a:rPr>
              <a:t>SIH1638</a:t>
            </a:r>
            <a:endParaRPr lang="en-US" dirty="0"/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B365D"/>
                </a:solidFill>
                <a:latin typeface="Arial"/>
              </a:rPr>
              <a:t>Problem Statement Title – </a:t>
            </a:r>
            <a:r>
              <a:rPr sz="1500" b="0">
                <a:solidFill>
                  <a:srgbClr val="333333"/>
                </a:solidFill>
                <a:latin typeface="Arial"/>
              </a:rPr>
              <a:t>Development of a Sovereign Mathematical Optimization Solver Core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B365D"/>
                </a:solidFill>
                <a:latin typeface="Arial"/>
              </a:rPr>
              <a:t>Theme – </a:t>
            </a:r>
            <a:r>
              <a:rPr sz="1500" b="0">
                <a:solidFill>
                  <a:srgbClr val="333333"/>
                </a:solidFill>
                <a:latin typeface="Arial"/>
              </a:rPr>
              <a:t>Strategic Infrastructure &amp; Computational Systems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B365D"/>
                </a:solidFill>
                <a:latin typeface="Arial"/>
              </a:rPr>
              <a:t>PS Category – </a:t>
            </a:r>
            <a:r>
              <a:rPr sz="1500" b="0">
                <a:solidFill>
                  <a:srgbClr val="333333"/>
                </a:solidFill>
                <a:latin typeface="Arial"/>
              </a:rPr>
              <a:t>Software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B365D"/>
                </a:solidFill>
                <a:latin typeface="Arial"/>
              </a:rPr>
              <a:t>Team ID – </a:t>
            </a:r>
            <a:r>
              <a:rPr sz="1500" b="0">
                <a:solidFill>
                  <a:srgbClr val="333333"/>
                </a:solidFill>
                <a:latin typeface="Arial"/>
              </a:rPr>
              <a:t>[Registered Team ID]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B365D"/>
                </a:solidFill>
                <a:latin typeface="Arial"/>
              </a:rPr>
              <a:t>Team Name – </a:t>
            </a:r>
            <a:r>
              <a:rPr sz="1500" b="0">
                <a:solidFill>
                  <a:srgbClr val="333333"/>
                </a:solidFill>
                <a:latin typeface="Arial"/>
              </a:rPr>
              <a:t>Sovereign Solvers (AryanMotiani / dweep-desai)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 wrap="square"/>
          <a:lstStyle/>
          <a:p>
            <a:pPr eaLnBrk="1" hangingPunct="1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SOVEREIGN OPTIMIZATION SOLVER CORE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48640" y="1280160"/>
            <a:ext cx="10972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spcAft>
                <a:spcPts val="200"/>
              </a:spcAft>
              <a:buFont typeface="Wingdings" panose="05000000000000000000" pitchFamily="2" charset="2"/>
              <a:buChar char="v"/>
              <a:defRPr sz="1300" b="1">
                <a:solidFill>
                  <a:srgbClr val="005691"/>
                </a:solidFill>
                <a:latin typeface="Arial"/>
              </a:defRPr>
            </a:pPr>
            <a:r>
              <a:t>1. Proposed Solution (Idea / Prototype Overview)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Built an industrial-grade Sovereign Mathematical Optimization Engine from scratch in Python/NumPy/SciPy without wrapping any foreign commercial (Gurobi, CPLEX) or open-source solvers (HiGHS, SCIP, CBC).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Delivers complete solver capabilities for Linear Programming (LP), Mixed-Integer LP (MILP), and Quadratic Programming (QP) with native MPS, LP, and QPS format readers.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1">
                <a:solidFill>
                  <a:srgbClr val="005691"/>
                </a:solidFill>
                <a:latin typeface="Arial"/>
              </a:defRPr>
            </a:pPr>
            <a:r>
              <a:t>2. Detailed Explanation of the Proposed Solution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Continuous LP Core: Sparse Revised Simplex with Forrest-Tomlin dynamic LU updates + Mehrotra Predictor-Corrector Interior Point Method (IPM) with basis crossover + Restarted PDHG.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Mixed-Integer LP Core: Branch-and-Cut with Chvátal-Gomory, MIR, and clique cuts; reliability pseudocost branching; primal heuristics (Feasibility Pump, RINS, diving); and warm-started dual simplex.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Quadratic Programming (QP): Alternating Direction Method of Multipliers (ADMM) with active-set solution polishing.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1">
                <a:solidFill>
                  <a:srgbClr val="005691"/>
                </a:solidFill>
                <a:latin typeface="Arial"/>
              </a:defRPr>
            </a:pPr>
            <a:r>
              <a:t>3. How It Addresses the Problem &amp; National Need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Breaks critical dependence on expensive foreign licenses across India's refining, power dispatch, logistics, and planning sectors.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Provides complete mathematical transparency, preventing proprietary vendor lock-in and geopolitical software embargoes on national infrastructure.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1">
                <a:solidFill>
                  <a:srgbClr val="005691"/>
                </a:solidFill>
                <a:latin typeface="Arial"/>
              </a:defRPr>
            </a:pPr>
            <a:r>
              <a:t>4. Innovation &amp; Uniqueness of the Solution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First Sovereign GPU-Resident LP Engine (pdhg_gpu): Accelerates restarted PDHG using CuPy/CUDA and Apple Metal (MPS), unlocking 3x–7x speedup on massive industrial models (&gt;100k variables).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High Numerical Robustness: Integrated Ruiz equilibration scaling, Harris two-pass ratio test, and Bland anti-cycling safeguards.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Sovereign Solvers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TECHNICAL APPROACH &amp; METHODOLOGY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80160"/>
            <a:ext cx="10972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Bef>
                <a:spcPts val="4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1300" b="1">
                <a:solidFill>
                  <a:srgbClr val="005691"/>
                </a:solidFill>
                <a:latin typeface="Arial"/>
              </a:defRPr>
            </a:pPr>
            <a:r>
              <a:t>1. Technologies &amp; Computational Stack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Core Engine: Python 3.14, NumPy 2.x (SIMD vectorization), SciPy (sparse CSR/CSC algebra, sparse LU factorization, COLAMD/AMD ordering).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GPU Acceleration: CuPy (CUDA) &amp; PyTorch (CUDA / Apple Metal MPS) for memory-resident sparse matrix-vector products (SpMV).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Validation Harness: PyTest test suite (198 passed automated tests), Netlib LP suite, MIPLIB 2017 library, and HiGHS dual-reference cross-checks.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1">
                <a:solidFill>
                  <a:srgbClr val="005691"/>
                </a:solidFill>
                <a:latin typeface="Arial"/>
              </a:defRPr>
            </a:pPr>
            <a:r>
              <a:t>2. Algorithmic Pipeline &amp; Architecture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Multi-Pass Presolve: Implied bound tightening, singleton row substitution, dual fixing, and coefficient strengthening reducing model size by 20%–60%.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Scaling &amp; Conditioning: Ruiz equilibration row/column normalization mitigating ill-conditioned matrices (condition number &gt; 10^8).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Branch-and-Cut Pipeline: Root cut generation (Gomory fractional / MIR) -&gt; Reliability pseudocost branching -&gt; Primal heuristics (Feasibility Pump) -&gt; Dual Simplex warm-start.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1">
                <a:solidFill>
                  <a:srgbClr val="005691"/>
                </a:solidFill>
                <a:latin typeface="Arial"/>
              </a:defRPr>
            </a:pPr>
            <a:r>
              <a:t>3. Working Prototype &amp; Verification Status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100% Functional Working Prototype: Solves classic Netlib benchmarks (afiro, brandy, adlittle) matching HiGHS to 10^-6–10^-16 precision.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End-to-End Industrial Demos: Validated on Indian Crude Oil Blending (LP) and Refinery Multi-Depot Supply Chain Scheduling (MILP).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Sovereign Solvers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80160"/>
            <a:ext cx="10972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300" b="1">
                <a:solidFill>
                  <a:srgbClr val="005691"/>
                </a:solidFill>
                <a:latin typeface="Arial"/>
              </a:defRPr>
            </a:pPr>
            <a:r>
              <a:t>1. Analysis of Feasibility &amp; Production Viability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Mathematically Rigorous Foundations: Built on established numerical linear algebra and optimization theorems (Forrest-Tomlin, Mehrotra, Achterberg, Applegate).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Zero External Solver Runtime Dependency: Pure standalone package; runs in secure, air-gapped Indian enterprise and defense environments.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Full Format Interoperability: Direct drop-in support for standard MPS, LP, and QPS problem files with full post-solve recovery.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1">
                <a:solidFill>
                  <a:srgbClr val="005691"/>
                </a:solidFill>
                <a:latin typeface="Arial"/>
              </a:defRPr>
            </a:pPr>
            <a:r>
              <a:t>2. Key Numerical Challenges &amp; Risks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Degeneracy &amp; Stalling: Industrial models frequently encounter redundant constraints and degenerate bases that cause cycling in standard simplex.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Combinatorial Branch-and-Bound Explosion: Unpruned search trees on difficult integer programs can grow exponentially.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Memory Fill-in at Scale: Classical simplex LU factorization suffers from memory bottlenecks on problems exceeding 100,000 variables.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1">
                <a:solidFill>
                  <a:srgbClr val="005691"/>
                </a:solidFill>
                <a:latin typeface="Arial"/>
              </a:defRPr>
            </a:pPr>
            <a:r>
              <a:t>3. Risk Mitigation Strategies Implemented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Degeneracy Safeguards: Harris two-pass ratio test, Devex pricing, Markowitz threshold pivoting, and dynamic basis refactorization every 50 pivots.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Tree Pruning: Reliability pseudocost branching combined with Gomory fractional cuts prunes &gt;60% of search nodes; warm-started dual simplex accelerates re-solves.</a:t>
            </a:r>
          </a:p>
          <a:p>
            <a:pPr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GPU Scalability: Pluggable GPU-resident PDHG engine replaces matrix factorizations with O(nnz) parallel SpMV, scaling to millions of variables.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Sovereign Solvers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80160"/>
            <a:ext cx="10972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 sz="1300" b="1">
                <a:solidFill>
                  <a:srgbClr val="005691"/>
                </a:solidFill>
                <a:latin typeface="Arial"/>
              </a:defRPr>
            </a:pPr>
            <a:r>
              <a:t>1. Potential Impact on Target Strategic Audience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Indian Core Industries: Provides immediate mathematical sovereignty for PSUs and private enterprises (IOCL, BPCL, ONGC, NTPC, Tata, Reliance, Indian Railways).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National Security &amp; Self-Reliance: Immunizes critical planning, grid dispatch, and refinery operations against foreign sanctions, embargoes, or telemetry exfiltration.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Indian Research Ecosystem: Transparent open-core solver enables DRDO, ISRO, and university researchers to study and customize solver internals.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300" b="1">
                <a:solidFill>
                  <a:srgbClr val="005691"/>
                </a:solidFill>
                <a:latin typeface="Arial"/>
              </a:defRPr>
            </a:pPr>
            <a:r>
              <a:t>2. Economic, Operational &amp; Environmental Benefits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Massive Economic Savings (&gt; ₹100 Crore / Year): Eliminates recurring foreign software license costs ($15,000–$40,000 per engine seat per year).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Supply Chain &amp; Refinery Optimization: Real-time schedule optimization across multi-depot distribution networks reduces transit latency and inventory holding costs.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Environmental Sustainability: Optimized power dispatch and refinery distillation minimize fuel consumption and carbon emissions by 3%–5%.</a:t>
            </a:r>
          </a:p>
          <a:p>
            <a:pPr>
              <a:spcAft>
                <a:spcPts val="3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Atmanirbhar Bharat: Fulfills national mission goals by creating India's first homegrown sovereign optimization solver foundation.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Sovereign Solvers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80160"/>
            <a:ext cx="10972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300" b="1">
                <a:solidFill>
                  <a:srgbClr val="005691"/>
                </a:solidFill>
                <a:latin typeface="Arial"/>
              </a:defRPr>
            </a:pPr>
            <a:r>
              <a:t>1. Foundational Mathematical &amp; Numerical Literature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200"/>
              </a:spcAft>
              <a:defRPr sz="1050" b="0">
                <a:solidFill>
                  <a:srgbClr val="333333"/>
                </a:solidFill>
                <a:latin typeface="Arial"/>
              </a:defRPr>
            </a:pPr>
            <a:r>
              <a:t>• Forrest, J.J.H., &amp; Tomlin, J.A. (1972). 'Updated Triangular Factors of the Basis to Maintain Sparsity in the Product Form Simplex Method', Mathematical Programming, 2(1), 263-278.</a:t>
            </a:r>
          </a:p>
          <a:p>
            <a:pPr>
              <a:spcAft>
                <a:spcPts val="200"/>
              </a:spcAft>
              <a:defRPr sz="1050" b="0">
                <a:solidFill>
                  <a:srgbClr val="333333"/>
                </a:solidFill>
                <a:latin typeface="Arial"/>
              </a:defRPr>
            </a:pPr>
            <a:r>
              <a:t>• Mehrotra, S. (1992). 'On the Implementation of a Primal-Dual Interior Point Method', SIAM Journal on Optimization, 2(4), 575-601.</a:t>
            </a:r>
          </a:p>
          <a:p>
            <a:pPr>
              <a:spcAft>
                <a:spcPts val="200"/>
              </a:spcAft>
              <a:defRPr sz="1050" b="0">
                <a:solidFill>
                  <a:srgbClr val="333333"/>
                </a:solidFill>
                <a:latin typeface="Arial"/>
              </a:defRPr>
            </a:pPr>
            <a:r>
              <a:t>• Achterberg, T. (2007). 'Constraint Integer Programming', Ph.D. Dissertation, Technische Universität Berlin.</a:t>
            </a:r>
          </a:p>
          <a:p>
            <a:pPr>
              <a:spcAft>
                <a:spcPts val="200"/>
              </a:spcAft>
              <a:defRPr sz="1050" b="0">
                <a:solidFill>
                  <a:srgbClr val="333333"/>
                </a:solidFill>
                <a:latin typeface="Arial"/>
              </a:defRPr>
            </a:pPr>
            <a:r>
              <a:t>• Applegate, D., Diaz, M., Hinder, O., Lu, H., Lubin, M. (2021). 'Practical Large-Scale Linear Programming using Primal-Dual Hybrid Gradient', NeurIPS 2021.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1">
                <a:solidFill>
                  <a:srgbClr val="005691"/>
                </a:solidFill>
                <a:latin typeface="Arial"/>
              </a:defRPr>
            </a:pPr>
            <a:r>
              <a:t>2. State-of-the-Art GPU Optimization Literature</a:t>
            </a:r>
          </a:p>
          <a:p>
            <a:pPr>
              <a:spcAft>
                <a:spcPts val="200"/>
              </a:spcAft>
              <a:defRPr sz="1050" b="0">
                <a:solidFill>
                  <a:srgbClr val="333333"/>
                </a:solidFill>
                <a:latin typeface="Arial"/>
              </a:defRPr>
            </a:pPr>
            <a:r>
              <a:t>• Lu, H., Yang, C., et al. (2023). 'cuPDLP.jl: A GPU Implementation of restarted PDHG for Linear Programming', arXiv:2307.11679.</a:t>
            </a:r>
          </a:p>
          <a:p>
            <a:pPr>
              <a:spcAft>
                <a:spcPts val="200"/>
              </a:spcAft>
              <a:defRPr sz="1050" b="0">
                <a:solidFill>
                  <a:srgbClr val="333333"/>
                </a:solidFill>
                <a:latin typeface="Arial"/>
              </a:defRPr>
            </a:pPr>
            <a:r>
              <a:t>• Blin, R., Gualandi, S., Lodi, A., Stellato, B. (Jan 2026). 'Batched First-Order Methods for Parallel LP Solving in MIP', arXiv:2601.21990.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1">
                <a:solidFill>
                  <a:srgbClr val="005691"/>
                </a:solidFill>
                <a:latin typeface="Arial"/>
              </a:defRPr>
            </a:pPr>
            <a:r>
              <a:t>3. Benchmark Collections &amp; Industrial Standard Specifications</a:t>
            </a:r>
          </a:p>
          <a:p>
            <a:pPr>
              <a:spcAft>
                <a:spcPts val="200"/>
              </a:spcAft>
              <a:defRPr sz="1050" b="0">
                <a:solidFill>
                  <a:srgbClr val="333333"/>
                </a:solidFill>
                <a:latin typeface="Arial"/>
              </a:defRPr>
            </a:pPr>
            <a:r>
              <a:t>• Netlib LP Test Problems: Gay, D.M. (1985), Mathematical Programming Society COAL Newsletter.</a:t>
            </a:r>
          </a:p>
          <a:p>
            <a:pPr>
              <a:spcAft>
                <a:spcPts val="200"/>
              </a:spcAft>
              <a:defRPr sz="1050" b="0">
                <a:solidFill>
                  <a:srgbClr val="333333"/>
                </a:solidFill>
                <a:latin typeface="Arial"/>
              </a:defRPr>
            </a:pPr>
            <a:r>
              <a:t>• MIPLIB 2017: Gleixner et al. (2021), 'MIPLIB 2017: Data-Driven Compilation of the 6th Mixed-Integer Programming Library', Math. Prog. Comp.</a:t>
            </a:r>
          </a:p>
          <a:p>
            <a:pPr>
              <a:spcAft>
                <a:spcPts val="200"/>
              </a:spcAft>
              <a:defRPr sz="1050" b="0">
                <a:solidFill>
                  <a:srgbClr val="333333"/>
                </a:solidFill>
                <a:latin typeface="Arial"/>
              </a:defRPr>
            </a:pPr>
            <a:r>
              <a:t>• Industry Reference Standards: Mathematical Programming System (MPS) Format Specification and CPLEX LP Format Standard.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Sovereign Solvers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