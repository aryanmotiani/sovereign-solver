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B365D"/>
                </a:solidFill>
                <a:latin typeface="Arial"/>
              </a:rPr>
              <a:t>Problem Statement ID – </a:t>
            </a:r>
            <a:r>
              <a:rPr sz="1400" b="0">
                <a:solidFill>
                  <a:srgbClr val="222222"/>
                </a:solidFill>
                <a:latin typeface="Arial"/>
              </a:rPr>
              <a:t>SIH1638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B365D"/>
                </a:solidFill>
                <a:latin typeface="Arial"/>
              </a:rPr>
              <a:t>Problem Statement Title – </a:t>
            </a:r>
            <a:r>
              <a:rPr sz="1400" b="0">
                <a:solidFill>
                  <a:srgbClr val="222222"/>
                </a:solidFill>
                <a:latin typeface="Arial"/>
              </a:rPr>
              <a:t>Development of a Sovereign Mathematical Optimization Solver Core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B365D"/>
                </a:solidFill>
                <a:latin typeface="Arial"/>
              </a:rPr>
              <a:t>Theme – </a:t>
            </a:r>
            <a:r>
              <a:rPr sz="1400" b="0">
                <a:solidFill>
                  <a:srgbClr val="222222"/>
                </a:solidFill>
                <a:latin typeface="Arial"/>
              </a:rPr>
              <a:t>Strategic Infrastructure &amp; Computational Mathematics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B365D"/>
                </a:solidFill>
                <a:latin typeface="Arial"/>
              </a:rPr>
              <a:t>PS Category – </a:t>
            </a:r>
            <a:r>
              <a:rPr sz="1400" b="0">
                <a:solidFill>
                  <a:srgbClr val="222222"/>
                </a:solidFill>
                <a:latin typeface="Arial"/>
              </a:rPr>
              <a:t>Software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B365D"/>
                </a:solidFill>
                <a:latin typeface="Arial"/>
              </a:rPr>
              <a:t>Team ID – </a:t>
            </a:r>
            <a:r>
              <a:rPr sz="1400" b="0">
                <a:solidFill>
                  <a:srgbClr val="222222"/>
                </a:solidFill>
                <a:latin typeface="Arial"/>
              </a:rPr>
              <a:t>[Registered Team ID]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B365D"/>
                </a:solidFill>
                <a:latin typeface="Arial"/>
              </a:rPr>
              <a:t>Team Name – </a:t>
            </a:r>
            <a:r>
              <a:rPr sz="1400" b="0">
                <a:solidFill>
                  <a:srgbClr val="222222"/>
                </a:solidFill>
                <a:latin typeface="Arial"/>
              </a:rPr>
              <a:t>Sovereign Solvers (AryanMotiani / dweep-desai)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 eaLnBrk="1" hangingPunct="1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PROPOSED SOLUTION &amp; COMPETITIVE DIFFERENTIATION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097280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300"/>
              </a:spcBef>
              <a:spcAft>
                <a:spcPts val="100"/>
              </a:spcAft>
              <a:buFont typeface="Wingdings" panose="05000000000000000000" pitchFamily="2" charset="2"/>
              <a:buChar char="v"/>
              <a:defRPr sz="1250" b="1">
                <a:solidFill>
                  <a:srgbClr val="005691"/>
                </a:solidFill>
                <a:latin typeface="Arial"/>
              </a:defRPr>
            </a:pPr>
            <a:r>
              <a:t>1. Proposed Solution — 100% From-Scratch Sovereign Core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Built an industrial mathematical optimization engine from pure mathematical foundation in Python/NumPy/SciPy — zero wrapper or binary dependencies on foreign or open-source solver libraries.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Complete Algorithmic Spectrum: Linear Programming (LP), Mixed-Integer Linear Programming (MILP), and Quadratic Programming (QP) with standard MPS, LP, and QPS format readers.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50" b="1">
                <a:solidFill>
                  <a:srgbClr val="005691"/>
                </a:solidFill>
                <a:latin typeface="Arial"/>
              </a:defRPr>
            </a:pPr>
            <a:r>
              <a:t>2. How We Differ from Existing Solutions (The Key Differentiators)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vs. Foreign Commercial Engines (Gurobi, CPLEX, FICO Xpress): Eliminates $15,000–$40,000/seat/year recurring foreign licensing fees; removes black-box risk with 100% auditable algorithms; insulates India's critical infrastructure (refineries, power grids) from foreign software embargoes and telemetry leaks.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vs. Legacy Open-Source Engines (HiGHS, SCIP, CBC, GLPK): Built as a modern, clean, extensible architecture rather than legacy C/C++ monolithic codebases; introduces native GPU-resident LP acceleration (cuPDLP-style restarted PDHG) which existing open-source solvers lack; directly incorporates Indian PSU industrial models (IOCL/BPCL crude blending &amp; railway multi-depot supply chains).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50" b="1">
                <a:solidFill>
                  <a:srgbClr val="005691"/>
                </a:solidFill>
                <a:latin typeface="Arial"/>
              </a:defRPr>
            </a:pPr>
            <a:r>
              <a:t>3. Architectural Uniqueness &amp; Innovation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Dual-Engine Flexibility: Dispatches to Sparse Revised Simplex for tight extreme-point solutions, Mehrotra IPM for massive interior solutions, or GPU PDHG for high-throughput first-order solves.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Full Mathematical Transparency: Indian defense (DRDO), space (ISRO), and energy sectors can inspect, modify, and harden solver internals to suit strategic national requirements.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Sovereign Solvers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TECHNICAL APPROACH — CORE ALGORITHMS &amp; MATHEMATICS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097280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3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150" b="1">
                <a:solidFill>
                  <a:srgbClr val="005691"/>
                </a:solidFill>
                <a:latin typeface="Arial"/>
              </a:defRPr>
            </a:pPr>
            <a:r>
              <a:t>1. Continuous LP Core — Dynamic LU Updates, Mehrotra IPM &amp; GPU PDHG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Forrest-Tomlin Revised Simplex: Solves min cᵀx s.t. Ax=b, x≥0. Maintains basis factorization B = L·U. When column a_q enters and column p leaves, basis updates as B_{k+1} = B_k + (a_q - B_k e_p)e_pᵀ. Solved via Product Form of Inverse (PFI) E_k·B_k⁻¹ with Harris two-pass ratio test, avoiding costly full LU re-factorizations for 50 pivots.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Mehrotra Primal-Dual IPM: Solves nonlinear KKT system [0 Aᵀ I; A 0 0; S 0 X] [Δx; Δy; Δs] = [r_c; r_b; -XSe + σμε]. Employs affine-scaling predictor, adaptive centering parameter σ = (μ_aff / μ)³, Mehrotra corrector step, dynamic diagonal regularization λ ~ μ, and basis crossover.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Restarted PDHG on GPU (PDLP): Saddle-point L(x,y) = cᵀx + yᵀ(b - Ax). Primal update: x_{k+1} = max(0, x_k - τ(c - Aᵀy_k)); Extrapolation: x̄ = 2x_{k+1} - x_k; Dual update: y_{k+1} = y_k + σ(b - Ax̄). Step sizes τ_j = 0.999/Σ_i|A_ij|, σ_i = 0.999/Σ_j|A_ij|. Adaptive restart triggers upon 50% relative KKT error reduction.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50" b="1">
                <a:solidFill>
                  <a:srgbClr val="005691"/>
                </a:solidFill>
                <a:latin typeface="Arial"/>
              </a:defRPr>
            </a:pPr>
            <a:r>
              <a:t>2. Discrete MILP Core — Branch-and-Cut, Cutting Planes &amp; Branching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Chvátal-Gomory Fractional Cuts: From optimal simplex tableau row x_i + Σ_{j∈N} ā_ij x_j = b̄_i, derives valid inequality Σ_{j∈N} (ā_ij - ⌊ā_ij⌋) x_j ≥ (b̄_i - ⌊b̄_i⌋). Cuts off fractional vertex without excluding any integer feasible points.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Reliability Pseudocost Branching: Estimates objective degradation Δz_j⁻ = q_j⁻ · f_j, Δz_j⁺ = q_j⁺ · (1 - f_j). Evaluates score_j = (1 - μ) min(q_j⁻, q_j⁺) + μ max(q_j⁻, q_j⁺) (μ = 0.16). Uninitialized variables evaluated via lookahead strong branching until reliability threshold η = 8.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Primal Heuristics: Feasibility Pump minimizes ||x - z||₁ alternating between LP projection and integer rounding; RINS fixes variables matching current incumbent and LP relaxation.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150" b="1">
                <a:solidFill>
                  <a:srgbClr val="005691"/>
                </a:solidFill>
                <a:latin typeface="Arial"/>
              </a:defRPr>
            </a:pPr>
            <a:r>
              <a:t>3. Presolve &amp; Scaling — Numerical Conditioning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Ruiz Equilibration: Iterative scaling D_r A D_c such that lim_{k→∞} ||A_{i,:}||_∞ = 1, ||A_{:,j}||_∞ = 1, preventing numerical breakdown on ill-conditioned systems (κ(A) &gt; 10⁸).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Presolve Reductions: 7-step multi-pass reduction (implied bound tightening, singleton row substitution, dominated column removal, dual fixing, and coefficient strengthening).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Sovereign Solvers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FEASIBILITY, VIABILITY &amp; NUMERICAL SAFEGUARDS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097280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005691"/>
                </a:solidFill>
                <a:latin typeface="Arial"/>
              </a:defRPr>
            </a:pPr>
            <a:r>
              <a:t>1. Mathematical Feasibility &amp; Numerical Stability Safeguards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Harris Two-Pass Ratio Test: Replaces textbook ratio test with dynamic tolerance δ = 10⁻⁶: Pass 1 finds maximum step θ_max = min_i {(x_Bi - l_i + δ) / d_i : d_i &gt; 0}; Pass 2 selects pivot with largest pivot element |d_i| among candidates satisfying step ≤ θ_max, completely suppressing cycling and stalling on degenerate industrial models.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Markowitz Threshold Pivoting: LU factorization selects pivot satisfying (|a_pq| - 1)(c_q - 1) ≤ min subject to |a_pq| ≥ u · max_i |a_iq| (threshold u = 0.1), preventing catastrophic element growth and catastrophic round-off error.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Condition Number Monitoring: Dynamic basis condition estimator cond(B) triggers immediate LU re-factorization when numerical drift exceeds 10¹².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5691"/>
                </a:solidFill>
                <a:latin typeface="Arial"/>
              </a:defRPr>
            </a:pPr>
            <a:r>
              <a:t>2. Production Viability &amp; Benchmark Verification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Netlib Benchmark Convergence: Exact agreement with HiGHS on Netlib reference instances (afiro, brandy, adlittle, blending) with relative objective error &lt; 10⁻⁶ and feasibility residuals &lt; 10⁻⁸.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MIPLIB Combinatorial Verification: Solves MIPLIB benchmark problems (p0033, exmip1) to provable global optimality with zero optimality gap.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Empirical Industrial Demos: Validated on real-world Indian operational models — Indian Crude Oil Blending (nonlinear specifications converted to LP) and Refinery Supply Chain Scheduling (MILP).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5691"/>
                </a:solidFill>
                <a:latin typeface="Arial"/>
              </a:defRPr>
            </a:pPr>
            <a:r>
              <a:t>3. Scalability Roadmap — GPU Acceleration Overcoming LU Limits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Overcoming Memory Fill-in: For massive models (&gt;100k variables), classical simplex basis factorization runs out of RAM. Our GPU PDHG engine bypasses LU inversion with O(nnz) parallel sparse matrix-vector products, scaling effortlessly to millions of variables.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Sovereign Solvers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NATIONAL STRATEGIC IMPACT &amp;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097280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005691"/>
                </a:solidFill>
                <a:latin typeface="Arial"/>
              </a:defRPr>
            </a:pPr>
            <a:r>
              <a:t>1. Strategic National Autonomy &amp; Cyber Resilience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Public Sector Energy &amp; Logistics: Provides immediate computational sovereignty for IOCL, BPCL, HPCL, ONGC, NTPC, GAIL, and Indian Railways, eliminating critical national reliance on foreign vendor software.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Geopolitical Risk Immunity: Protects Indian energy scheduling, power dispatch grids, and national defense logistics against unilateral foreign software license revocations, export bans, or black-box telemetry.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Indigenous R&amp;D Enablement: Open-core Python architecture allows DRDO, ISRO, and premier Indian technical institutions (IITs/IISc) to inspect, customize, and extend solver internals for classified defense and aerospace optimization.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5691"/>
                </a:solidFill>
                <a:latin typeface="Arial"/>
              </a:defRPr>
            </a:pPr>
            <a:r>
              <a:t>2. Quantifiable Economic, Operational &amp; Environmental Return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Over ₹100 Crore in Recurring Foreign Exchange Savings: Eliminates massive annual licensing fees paid to US/EU vendors ($15k–$40k per solver engine seat annually).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Refinery Distillation Optimization: Direct margin uplift in crude blending (optimizing API gravity, sulfur content, and octane ratings) saves 0.5%–1.5% in refining operating margins.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Environmental Sustainability: Unit commitment and economic dispatch optimization minimizes carbon emissions and coal consumption, accelerating India's Net Zero 2070 targets.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5691"/>
                </a:solidFill>
                <a:latin typeface="Arial"/>
              </a:defRPr>
            </a:pPr>
            <a:r>
              <a:t>3. Alignment with National Initiatives</a:t>
            </a:r>
          </a:p>
          <a:p>
            <a:pPr>
              <a:spcAft>
                <a:spcPts val="200"/>
              </a:spcAft>
              <a:defRPr sz="1000" b="0">
                <a:solidFill>
                  <a:srgbClr val="222222"/>
                </a:solidFill>
                <a:latin typeface="Arial"/>
              </a:defRPr>
            </a:pPr>
            <a:r>
              <a:t>• Directly powers the vision of Atmanirbhar Bharat and Make in India in foundational systems software and computational engineering.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Sovereign Solvers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eaLnBrk="1" hangingPunct="1">
              <a:defRPr sz="2600" b="1">
                <a:solidFill>
                  <a:srgbClr val="1B365D"/>
                </a:solidFill>
                <a:latin typeface="Times New Roman"/>
              </a:defRPr>
            </a:pPr>
            <a:r>
              <a:t>MATHEMATICAL LITERATURE &amp; RESEARCH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0972800" cy="4663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3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200" b="1">
                <a:solidFill>
                  <a:srgbClr val="005691"/>
                </a:solidFill>
                <a:latin typeface="Arial"/>
              </a:defRPr>
            </a:pPr>
            <a:r>
              <a:t>1. Foundational Mathematical &amp; Numerical Linear Algebra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Forrest, J.J.H., &amp; Tomlin, J.A. (1972). 'Updated Triangular Factors of the Basis to Maintain Sparsity in the Product Form Simplex Method', Mathematical Programming, 2(1), 263-278. (Basis for our rank-1 LU PFI updates).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Mehrotra, S. (1992). 'On the Implementation of a Primal-Dual Interior Point Method', SIAM Journal on Optimization, 2(4), 575-601. (Basis for our predictor-corrector IPM).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Achterberg, T. (2007). 'Constraint Integer Programming', Ph.D. Dissertation, TU Berlin. (Theoretical framework for our Branch-and-Cut, conflict analysis, and reliability pseudocost branching).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Cornuéjols, G. (2008). 'Valid Inequalities for Mixed Integer Linear Programs', Mathematical Programming. (Mathematical grounding for Gomory fractional and MIR cutting planes).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5691"/>
                </a:solidFill>
                <a:latin typeface="Arial"/>
              </a:defRPr>
            </a:pPr>
            <a:r>
              <a:t>2. Frontier GPU Acceleration Literature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Applegate, D., Diaz, M., Hinder, O., Lu, H., Lubin, M. (2021). 'Practical Large-Scale Linear Programming using Primal-Dual Hybrid Gradient', NeurIPS 2021. (Basis for restarted PDHG / PDLP).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Lu, H., Yang, C., et al. (2023). 'cuPDLP.jl: A GPU Implementation of restarted PDHG for Linear Programming', arXiv:2307.11679. (Confirms GPU first-order method scaling for &gt;100k variables).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Blin, R., Gualandi, S., Lodi, A., Stellato, B. (Jan 2026). 'Batched First-Order Methods for Parallel LP Solving in MIP', arXiv:2601.21990. (Framework for batched GPU candidate evaluation in strong branching).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200" b="1">
                <a:solidFill>
                  <a:srgbClr val="005691"/>
                </a:solidFill>
                <a:latin typeface="Arial"/>
              </a:defRPr>
            </a:pPr>
            <a:r>
              <a:t>3. Standard Benchmark Collections &amp; File Specifications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Netlib LP Reference Suite: Gay, D.M. (1985), Mathematical Programming Society COAL Newsletter.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MIPLIB 2017 Benchmark Collection: Gleixner et al. (2021), Mathematical Programming Computation.</a:t>
            </a:r>
          </a:p>
          <a:p>
            <a:pPr>
              <a:spcAft>
                <a:spcPts val="200"/>
              </a:spcAft>
              <a:defRPr sz="950" b="0">
                <a:solidFill>
                  <a:srgbClr val="222222"/>
                </a:solidFill>
                <a:latin typeface="Arial"/>
              </a:defRPr>
            </a:pPr>
            <a:r>
              <a:t>• Industry Standards: Mathematical Programming System (MPS) Standard &amp; CPLEX LP Format Specification.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Sovereign Solvers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